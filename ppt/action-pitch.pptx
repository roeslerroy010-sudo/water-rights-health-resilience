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5943600" y="-731520"/>
            <a:ext cx="4572000" cy="2286000"/>
          </a:xfrm>
          <a:prstGeom prst="rect">
            <a:avLst/>
          </a:prstGeom>
          <a:solidFill>
            <a:srgbClr val="1A6B8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6400800" y="-914400"/>
            <a:ext cx="3657600" cy="2743200"/>
          </a:xfrm>
          <a:prstGeom prst="rect">
            <a:avLst/>
          </a:prstGeom>
          <a:solidFill>
            <a:srgbClr val="16A34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09728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Rights Trading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Health Resilience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Market-Based Approach to Climate-Health Adaptation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8046720" cy="27432"/>
          </a:xfrm>
          <a:prstGeom prst="rect">
            <a:avLst/>
          </a:prstGeom>
          <a:solidFill>
            <a:srgbClr val="1A6B8A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PKU School of Economics  |  2 Members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Hackathon — Theme 4: Water &amp; Climate-Health Adaptation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→ Water → Health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causal chain driving our motivation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" y="1371600"/>
            <a:ext cx="146304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00200" y="2267712"/>
            <a:ext cx="411480" cy="3657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12848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057400" y="1371600"/>
            <a:ext cx="146304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80" y="16459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57400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Droughts / Floods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566160" y="2267712"/>
            <a:ext cx="411480" cy="3657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212848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023360" y="1371600"/>
            <a:ext cx="128016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164592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02336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Scarcity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349240" y="2267712"/>
            <a:ext cx="411480" cy="3657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212848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806440" y="1371600"/>
            <a:ext cx="146304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2220" y="1645920"/>
            <a:ext cx="411480" cy="4114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806440" y="2194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7315200" y="2267712"/>
            <a:ext cx="411480" cy="3657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2212848"/>
            <a:ext cx="182880" cy="1828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7772400" y="1371600"/>
            <a:ext cx="1280160" cy="18288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6740" y="1645920"/>
            <a:ext cx="411480" cy="4114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772400" y="21945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548640" y="3520440"/>
            <a:ext cx="8046720" cy="5029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0" name="Shape 19"/>
          <p:cNvSpPr/>
          <p:nvPr/>
        </p:nvSpPr>
        <p:spPr>
          <a:xfrm>
            <a:off x="548640" y="352044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0"/>
          <p:cNvSpPr/>
          <p:nvPr/>
        </p:nvSpPr>
        <p:spPr>
          <a:xfrm>
            <a:off x="777240" y="3520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2050, climate change will expose 1.6 billion people to water-related health risks (WHO)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2286000" y="4160520"/>
            <a:ext cx="457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22"/>
          <p:cNvSpPr/>
          <p:nvPr/>
        </p:nvSpPr>
        <p:spPr>
          <a:xfrm>
            <a:off x="228600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Stata chart: disease incidence vs drought frequency]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Governance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approaches fall short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4747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54864" cy="21945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Command-and-Control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Static water quotas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dynamic reallocation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Ignores health externalities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Slow to adapt to crises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280160"/>
            <a:ext cx="34747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280160"/>
            <a:ext cx="54864" cy="2194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Water Markets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1783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Optimize for economic efficiency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148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Highest bidder wins allocation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Health outcomes incidental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880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health externality pricing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49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flows to the highest bidder, but the marginal health value of water is not priced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Water Rights Trading?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economics meets public health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54864" cy="219456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Economics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Coase Theorem: clear property rights enable efficient trading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Pigouvian taxation: price externalities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234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234440"/>
            <a:ext cx="54864" cy="219456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Evidence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Australia: Murray-Darling Basin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2044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Chile: established water markets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2044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China: pilot water rights trading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1234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234440"/>
            <a:ext cx="54864" cy="2194560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0936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None of existing markets incorporate health outcomes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Health is treated as an externality, not a design goal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3886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water markets that price health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Design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layers: Cap | Allocation | Trade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1188720"/>
            <a:ext cx="548640" cy="548640"/>
          </a:xfrm>
          <a:prstGeom prst="oval">
            <a:avLst/>
          </a:prstGeom>
          <a:solidFill>
            <a:srgbClr val="0C4A6E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19456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783080"/>
            <a:ext cx="2194560" cy="3657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Setting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water withdrawal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per basin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2011680"/>
            <a:ext cx="365760" cy="3657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920240"/>
            <a:ext cx="182880" cy="1828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480560" y="1188720"/>
            <a:ext cx="548640" cy="548640"/>
          </a:xfrm>
          <a:prstGeom prst="oval">
            <a:avLst/>
          </a:prstGeom>
          <a:solidFill>
            <a:srgbClr val="1A6B8A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657600" y="1783080"/>
            <a:ext cx="219456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1783080"/>
            <a:ext cx="2194560" cy="36576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8" name="Text 15"/>
          <p:cNvSpPr/>
          <p:nvPr/>
        </p:nvSpPr>
        <p:spPr>
          <a:xfrm>
            <a:off x="37947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Allocation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9476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Health-sensitive users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priority quota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97880" y="2011680"/>
            <a:ext cx="365760" cy="36576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315200" y="1188720"/>
            <a:ext cx="548640" cy="548640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23" name="Text 19"/>
          <p:cNvSpPr/>
          <p:nvPr/>
        </p:nvSpPr>
        <p:spPr>
          <a:xfrm>
            <a:off x="7315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492240" y="1783080"/>
            <a:ext cx="219456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92240" y="1783080"/>
            <a:ext cx="219456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2"/>
          <p:cNvSpPr/>
          <p:nvPr/>
        </p:nvSpPr>
        <p:spPr>
          <a:xfrm>
            <a:off x="66294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+ Tax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62940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with health tax: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P_market + tau x H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371600" y="3246120"/>
            <a:ext cx="64008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29" name="Text 25"/>
          <p:cNvSpPr/>
          <p:nvPr/>
        </p:nvSpPr>
        <p:spPr>
          <a:xfrm>
            <a:off x="1554480" y="329184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Pricing Equation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1554480" y="3566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P_trade = P_market + tau  x  H_loss  x  DALY(Q)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Health-Adjusted Pricing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our mechanism is different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Market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Optimization 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 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maximization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basis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&amp; demand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Supply/demand + health externality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link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0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into 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solidFill>
            <a:srgbClr val="E0F2F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User-Adjustable Parameters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0448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 (Tax Rate)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90448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472" y="3886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Floor Quota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2452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992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Scenario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2452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19472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Cost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 of the interactive tool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029200" cy="30175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5029200" cy="3017520"/>
          </a:xfrm>
          <a:prstGeom prst="rect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88720"/>
            <a:ext cx="50292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261872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1261872"/>
            <a:ext cx="109728" cy="109728"/>
          </a:xfrm>
          <a:prstGeom prst="oval">
            <a:avLst/>
          </a:prstGeom>
          <a:solidFill>
            <a:srgbClr val="EAB308"/>
          </a:solidFill>
          <a:ln/>
        </p:spPr>
      </p:sp>
      <p:sp>
        <p:nvSpPr>
          <p:cNvPr id="11" name="Shape 9"/>
          <p:cNvSpPr/>
          <p:nvPr/>
        </p:nvSpPr>
        <p:spPr>
          <a:xfrm>
            <a:off x="1088136" y="1261872"/>
            <a:ext cx="109728" cy="109728"/>
          </a:xfrm>
          <a:prstGeom prst="oval">
            <a:avLst/>
          </a:prstGeom>
          <a:solidFill>
            <a:srgbClr val="22C55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2286000"/>
            <a:ext cx="1097280" cy="914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 Screenshot]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325880"/>
            <a:ext cx="28346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035040" y="132588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8368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Adjust tau 0% → 30%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965960"/>
            <a:ext cx="28346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035040" y="196596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574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Switch climate scenarios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035040" y="2606040"/>
            <a:ext cx="2834640" cy="5029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3" name="Shape 18"/>
          <p:cNvSpPr/>
          <p:nvPr/>
        </p:nvSpPr>
        <p:spPr>
          <a:xfrm>
            <a:off x="6035040" y="260604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6974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Observe health outcomes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938528"/>
            <a:ext cx="164592" cy="16459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035040" y="3383280"/>
            <a:ext cx="283464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1"/>
          <p:cNvSpPr/>
          <p:nvPr/>
        </p:nvSpPr>
        <p:spPr>
          <a:xfrm>
            <a:off x="6172200" y="3383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the right incentive design delivers better health outcomes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SSP2-4.5 vs SSP5-8.5: comparing outcomes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54864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44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SSP2-4.5  (Moderate)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Availability: 100%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DALYs avoided: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(effective market)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reduction: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efficiency: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trading potential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34440"/>
            <a:ext cx="54864" cy="25603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44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SSP5-8.5  (High Emission)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Availability: 72%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DALYs avoided: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(constrained trading)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reduction: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efficiency: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by scarcity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bar chart from tool comparing scenarios — DALY avoided, disease reduction]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Impact Quantified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the value of health-first water markets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37744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2377440" cy="36576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4630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X,XXX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DALYs Avoided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market vs without)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280160"/>
            <a:ext cx="237744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280160"/>
            <a:ext cx="2377440" cy="36576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4630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347472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280160"/>
            <a:ext cx="2377440" cy="1828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280160"/>
            <a:ext cx="2377440" cy="36576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4630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1874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¥XXM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21792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NPV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Health Benefits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0080" y="3383280"/>
            <a:ext cx="7863840" cy="5029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2" name="Shape 17"/>
          <p:cNvSpPr/>
          <p:nvPr/>
        </p:nvSpPr>
        <p:spPr>
          <a:xfrm>
            <a:off x="640080" y="3383280"/>
            <a:ext cx="54864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18"/>
          <p:cNvSpPr/>
          <p:nvPr/>
        </p:nvSpPr>
        <p:spPr>
          <a:xfrm>
            <a:off x="822960" y="3383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guideline — 1 DALY approx. ¥185,000 economic value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4069080"/>
            <a:ext cx="786384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0"/>
          <p:cNvSpPr/>
          <p:nvPr/>
        </p:nvSpPr>
        <p:spPr>
          <a:xfrm>
            <a:off x="640080" y="4069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Stata chart: health-economic tradeoff]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demonstration basin to global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5029200" cy="50292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3703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Basin — Middle Yangtze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4754880" cy="50292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2971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Cross-Basin — Multiple watersheds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44805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40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3: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— China-wide platform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1508760"/>
            <a:ext cx="420624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1508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4: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— Developing &amp; emerging economies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to Different Contexts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96596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Arid regions (water stress)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688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008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Monsoon regions (flood mgmt)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9718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island states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943600" y="3520440"/>
            <a:ext cx="2926080" cy="6400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6" name="Text 21"/>
          <p:cNvSpPr/>
          <p:nvPr/>
        </p:nvSpPr>
        <p:spPr>
          <a:xfrm>
            <a:off x="608076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national water rights trading platforms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 to real-world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78638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828800"/>
            <a:ext cx="365760" cy="365760"/>
          </a:xfrm>
          <a:prstGeom prst="oval">
            <a:avLst/>
          </a:prstGeom>
          <a:solidFill>
            <a:srgbClr val="0C4A6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31720"/>
            <a:ext cx="228600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331720"/>
            <a:ext cx="2286000" cy="36576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94560"/>
            <a:ext cx="36576" cy="13716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Pilot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sub-basin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evaluation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1828800"/>
            <a:ext cx="365760" cy="365760"/>
          </a:xfrm>
          <a:prstGeom prst="oval">
            <a:avLst/>
          </a:prstGeom>
          <a:solidFill>
            <a:srgbClr val="1A6B8A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2331720"/>
            <a:ext cx="228600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2331720"/>
            <a:ext cx="2286000" cy="36576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2194560"/>
            <a:ext cx="36576" cy="137160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2-3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Scale 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basin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mechanism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1828800"/>
            <a:ext cx="365760" cy="365760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331720"/>
            <a:ext cx="2286000" cy="118872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331720"/>
            <a:ext cx="22860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2194560"/>
            <a:ext cx="36576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4-5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Rollout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Multi-basin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to local conditions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3794760"/>
            <a:ext cx="640080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1554480" y="37947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Year 5: Integrated into China's national water rights trading platform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3200400"/>
            <a:ext cx="3657600" cy="2743200"/>
          </a:xfrm>
          <a:prstGeom prst="rect">
            <a:avLst/>
          </a:prstGeom>
          <a:solidFill>
            <a:srgbClr val="1A6B8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6400800" y="-457200"/>
            <a:ext cx="3657600" cy="2286000"/>
          </a:xfrm>
          <a:prstGeom prst="rect">
            <a:avLst/>
          </a:prstGeom>
          <a:solidFill>
            <a:srgbClr val="16A34A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Economics for Climate-Health Resilience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2011680"/>
            <a:ext cx="18288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0" y="2286000"/>
            <a:ext cx="21945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Live 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3383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</a:t>
            </a:r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PKU Economics Master's Students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team@example.com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github.com/example/water-health-market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Rights Trading for Health Resilience</dc:title>
  <dc:subject>PptxGenJS Presentation</dc:subject>
  <dc:creator>PKU School of Economics</dc:creator>
  <cp:lastModifiedBy>PKU School of Economics</cp:lastModifiedBy>
  <cp:revision>1</cp:revision>
  <dcterms:created xsi:type="dcterms:W3CDTF">2026-06-12T03:00:30Z</dcterms:created>
  <dcterms:modified xsi:type="dcterms:W3CDTF">2026-06-12T03:00:30Z</dcterms:modified>
</cp:coreProperties>
</file>